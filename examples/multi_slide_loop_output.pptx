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0" r:id="rId11"/>
    <p:sldId id="261" r:id="rId12"/>
    <p:sldId id="262" r:id="rId13"/>
    <p:sldId id="263" r:id="rId14"/>
    <p:sldId id="264" r:id="rId15"/>
    <p:sldId id="265" r:id="rId16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3C6E"/>
                </a:solidFill>
              </a:defRPr>
            </a:pPr>
            <a:r>
              <a:t xml:space="preserve">Q1 2026 Project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66666"/>
                </a:solidFill>
              </a:defRPr>
            </a:pPr>
            <a:r>
              <a:t xml:space="preserve">2026-03-12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1A3C6E"/>
                </a:solidFill>
              </a:defRPr>
            </a:pPr>
            <a:r>
              <a:t xml:space="preserve">End of Report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 xml:space="preserve"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1828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 xml:space="preserve">Project 1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88D2A"/>
                </a:solidFill>
              </a:defRPr>
            </a:pPr>
            <a:r>
              <a:t>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731520"/>
            <a:ext cx="3657600" cy="54864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 xml:space="preserve">Atlas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3C6E"/>
                </a:solidFill>
              </a:defRPr>
            </a:pPr>
            <a:r>
              <a:t xml:space="preserve">Status: On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 xml:space="preserve">Lead: Alice Chen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34640"/>
            <a:ext cx="8229600" cy="36000"/>
          </a:xfrm>
          <a:prstGeom prst="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 xml:space="preserve">Backend API platform for internal services.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1828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 xml:space="preserve">Project 1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88D2A"/>
                </a:solidFill>
              </a:defRPr>
            </a:pPr>
            <a:r>
              <a:t>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3C6E"/>
                </a:solidFill>
              </a:defRPr>
            </a:pPr>
            <a:r>
              <a:t xml:space="preserve">Atlas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36000"/>
          </a:xfrm>
          <a:prstGeom prst="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6666"/>
                </a:solidFill>
              </a:defRPr>
            </a:pPr>
            <a:r>
              <a:t>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 xml:space="preserve">Atlas provides a unified REST/gRPC gateway for all internal microservices. The Q1 milestone focuses on rate limiting, circuit breakers, and observability dashboards.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6666"/>
                </a:solidFill>
              </a:defRPr>
            </a:pPr>
            <a:r>
              <a:t>Tags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 xml:space="preserve">backend, infrastructure, 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 xml:space="preserve"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 xml:space="preserve"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1828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 xml:space="preserve">Project 2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88D2A"/>
                </a:solidFill>
              </a:defRPr>
            </a:pPr>
            <a:r>
              <a:t>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731520"/>
            <a:ext cx="3657600" cy="54864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 xml:space="preserve">Beacon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3C6E"/>
                </a:solidFill>
              </a:defRPr>
            </a:pPr>
            <a:r>
              <a:t xml:space="preserve">Status: At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 xml:space="preserve">Lead: Bob Martinez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34640"/>
            <a:ext cx="8229600" cy="36000"/>
          </a:xfrm>
          <a:prstGeom prst="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 xml:space="preserve">Customer-facing notification system overhaul.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1828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 xml:space="preserve">Project 2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88D2A"/>
                </a:solidFill>
              </a:defRPr>
            </a:pPr>
            <a:r>
              <a:t>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3C6E"/>
                </a:solidFill>
              </a:defRPr>
            </a:pPr>
            <a:r>
              <a:t xml:space="preserve">Beacon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36000"/>
          </a:xfrm>
          <a:prstGeom prst="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6666"/>
                </a:solidFill>
              </a:defRPr>
            </a:pPr>
            <a:r>
              <a:t>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 xml:space="preserve">Beacon replaces the legacy email/SMS pipeline with a unified notification service supporting push, email, SMS, and in-app channels. Delayed by vendor contract negotiations.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6666"/>
                </a:solidFill>
              </a:defRPr>
            </a:pPr>
            <a:r>
              <a:t>Tags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 xml:space="preserve">frontend, notifications, 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 xml:space="preserve"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 xml:space="preserve"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1828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 xml:space="preserve">Project 3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88D2A"/>
                </a:solidFill>
              </a:defRPr>
            </a:pPr>
            <a:r>
              <a:t>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731520"/>
            <a:ext cx="3657600" cy="54864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 xml:space="preserve">Comet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3C6E"/>
                </a:solidFill>
              </a:defRPr>
            </a:pPr>
            <a:r>
              <a:t xml:space="preserve">Status: Complete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 xml:space="preserve">Lead: Carol Nguyen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34640"/>
            <a:ext cx="8229600" cy="36000"/>
          </a:xfrm>
          <a:prstGeom prst="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 xml:space="preserve">Data pipeline migration from Airflow to Dagster.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1828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 xml:space="preserve">Project 3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88D2A"/>
                </a:solidFill>
              </a:defRPr>
            </a:pPr>
            <a:r>
              <a:t>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3C6E"/>
                </a:solidFill>
              </a:defRPr>
            </a:pPr>
            <a:r>
              <a:t xml:space="preserve">Comet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36000"/>
          </a:xfrm>
          <a:prstGeom prst="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6666"/>
                </a:solidFill>
              </a:defRPr>
            </a:pPr>
            <a:r>
              <a:t>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 xml:space="preserve">Comet migrated 47 DAGs from Airflow 1.x to Dagster, reducing pipeline failures by 62% and cutting average orchestration latency from 12s to 3s.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6666"/>
                </a:solidFill>
              </a:defRPr>
            </a:pPr>
            <a:r>
              <a:t>Tags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 xml:space="preserve">data, infrastructure, Q4-carryover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 xml:space="preserve"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